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18288000" cy="10287000"/>
  <p:notesSz cx="6858000" cy="9144000"/>
  <p:embeddedFontLst>
    <p:embeddedFont>
      <p:font typeface="Times New Roman Bold" panose="02020803070505020304" pitchFamily="18" charset="0"/>
      <p:bold r:id="rId16"/>
    </p:embeddedFont>
    <p:embeddedFont>
      <p:font typeface="Verdana" panose="020B060403050404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 rot="-1020">
            <a:off x="1216819" y="9253538"/>
            <a:ext cx="15854362" cy="0"/>
          </a:xfrm>
          <a:prstGeom prst="line">
            <a:avLst/>
          </a:prstGeom>
          <a:ln w="9525" cap="rnd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1364456" y="3583781"/>
            <a:ext cx="15559088" cy="178594"/>
            <a:chOff x="0" y="0"/>
            <a:chExt cx="20745450" cy="238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20650" cy="238125"/>
            </a:xfrm>
            <a:custGeom>
              <a:avLst/>
              <a:gdLst/>
              <a:ahLst/>
              <a:cxnLst/>
              <a:rect l="l" t="t" r="r" b="b"/>
              <a:pathLst>
                <a:path w="12820650" h="238125">
                  <a:moveTo>
                    <a:pt x="0" y="0"/>
                  </a:moveTo>
                  <a:lnTo>
                    <a:pt x="12820650" y="0"/>
                  </a:lnTo>
                  <a:lnTo>
                    <a:pt x="12820650" y="238125"/>
                  </a:lnTo>
                  <a:lnTo>
                    <a:pt x="0" y="238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20745450" cy="0"/>
            </a:xfrm>
            <a:custGeom>
              <a:avLst/>
              <a:gdLst/>
              <a:ahLst/>
              <a:cxnLst/>
              <a:rect l="l" t="t" r="r" b="b"/>
              <a:pathLst>
                <a:path w="20745450">
                  <a:moveTo>
                    <a:pt x="0" y="0"/>
                  </a:moveTo>
                  <a:lnTo>
                    <a:pt x="20745450" y="0"/>
                  </a:lnTo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667236" y="96117"/>
            <a:ext cx="1500188" cy="1714500"/>
            <a:chOff x="0" y="0"/>
            <a:chExt cx="2000250" cy="228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00250" cy="2286000"/>
            </a:xfrm>
            <a:custGeom>
              <a:avLst/>
              <a:gdLst/>
              <a:ahLst/>
              <a:cxnLst/>
              <a:rect l="l" t="t" r="r" b="b"/>
              <a:pathLst>
                <a:path w="2000250" h="2286000">
                  <a:moveTo>
                    <a:pt x="0" y="0"/>
                  </a:moveTo>
                  <a:lnTo>
                    <a:pt x="2000250" y="0"/>
                  </a:lnTo>
                  <a:lnTo>
                    <a:pt x="200025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84567" y="3795931"/>
            <a:ext cx="15329938" cy="2930652"/>
            <a:chOff x="0" y="0"/>
            <a:chExt cx="20439917" cy="3907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439917" cy="3907537"/>
            </a:xfrm>
            <a:custGeom>
              <a:avLst/>
              <a:gdLst/>
              <a:ahLst/>
              <a:cxnLst/>
              <a:rect l="l" t="t" r="r" b="b"/>
              <a:pathLst>
                <a:path w="20439917" h="3907537">
                  <a:moveTo>
                    <a:pt x="0" y="0"/>
                  </a:moveTo>
                  <a:lnTo>
                    <a:pt x="20439917" y="0"/>
                  </a:lnTo>
                  <a:lnTo>
                    <a:pt x="20439917" y="3907537"/>
                  </a:lnTo>
                  <a:lnTo>
                    <a:pt x="0" y="39075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949" r="-2892" b="-3879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6675"/>
              <a:ext cx="20439917" cy="3840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sz="3800" b="1">
                  <a:solidFill>
                    <a:srgbClr val="141928"/>
                  </a:solidFill>
                  <a:latin typeface="Verdana"/>
                </a:defRPr>
              </a:pPr>
              <a:r>
                <a:t>HIREME: AUTONOMOUS MULTI-AGENT CAREER INTELLIGENCE &amp; JOB-HUNTING OPERATING SYSTEM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2259622"/>
            <a:ext cx="15485805" cy="1193099"/>
            <a:chOff x="0" y="0"/>
            <a:chExt cx="20647740" cy="159079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647740" cy="1590796"/>
            </a:xfrm>
            <a:custGeom>
              <a:avLst/>
              <a:gdLst/>
              <a:ahLst/>
              <a:cxnLst/>
              <a:rect l="l" t="t" r="r" b="b"/>
              <a:pathLst>
                <a:path w="20647740" h="1590796">
                  <a:moveTo>
                    <a:pt x="0" y="0"/>
                  </a:moveTo>
                  <a:lnTo>
                    <a:pt x="20647740" y="0"/>
                  </a:lnTo>
                  <a:lnTo>
                    <a:pt x="20647740" y="1590796"/>
                  </a:lnTo>
                  <a:lnTo>
                    <a:pt x="0" y="1590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2188" r="-1857" b="-20301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0"/>
              <a:ext cx="20647740" cy="14955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6"/>
                </a:lnSpc>
              </a:pPr>
              <a:r>
                <a:rPr lang="en-US" sz="3884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DEPARTMENT OF ARTIFICIAL INTELLIGENCE AND       MACHINE LEARNING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96117"/>
            <a:ext cx="5635133" cy="1820294"/>
            <a:chOff x="0" y="0"/>
            <a:chExt cx="7513510" cy="2427059"/>
          </a:xfrm>
        </p:grpSpPr>
        <p:sp>
          <p:nvSpPr>
            <p:cNvPr id="16" name="Freeform 16" descr="Index of /image"/>
            <p:cNvSpPr/>
            <p:nvPr/>
          </p:nvSpPr>
          <p:spPr>
            <a:xfrm>
              <a:off x="0" y="0"/>
              <a:ext cx="7513574" cy="2427097"/>
            </a:xfrm>
            <a:custGeom>
              <a:avLst/>
              <a:gdLst/>
              <a:ahLst/>
              <a:cxnLst/>
              <a:rect l="l" t="t" r="r" b="b"/>
              <a:pathLst>
                <a:path w="7513574" h="2427097">
                  <a:moveTo>
                    <a:pt x="0" y="0"/>
                  </a:moveTo>
                  <a:lnTo>
                    <a:pt x="7513574" y="0"/>
                  </a:lnTo>
                  <a:lnTo>
                    <a:pt x="7513574" y="2427097"/>
                  </a:lnTo>
                  <a:lnTo>
                    <a:pt x="0" y="2427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4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1364456" y="6650000"/>
            <a:ext cx="15559088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A288C"/>
                </a:solidFill>
                <a:latin typeface="Verdana"/>
              </a:defRPr>
            </a:pPr>
            <a:r>
              <a:t>AD23731 - Foundations of Agentic AI | Mini-Project Final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175406" y="1510469"/>
            <a:ext cx="15933875" cy="1132232"/>
            <a:chOff x="-4417" y="0"/>
            <a:chExt cx="21245167" cy="1509641"/>
          </a:xfrm>
        </p:grpSpPr>
        <p:sp>
          <p:nvSpPr>
            <p:cNvPr id="4" name="Freeform 4"/>
            <p:cNvSpPr/>
            <p:nvPr/>
          </p:nvSpPr>
          <p:spPr>
            <a:xfrm>
              <a:off x="-4417" y="1271516"/>
              <a:ext cx="12425807" cy="238125"/>
            </a:xfrm>
            <a:custGeom>
              <a:avLst/>
              <a:gdLst/>
              <a:ahLst/>
              <a:cxnLst/>
              <a:rect l="l" t="t" r="r" b="b"/>
              <a:pathLst>
                <a:path w="12425807" h="238125">
                  <a:moveTo>
                    <a:pt x="0" y="0"/>
                  </a:moveTo>
                  <a:lnTo>
                    <a:pt x="12425807" y="0"/>
                  </a:lnTo>
                  <a:lnTo>
                    <a:pt x="12425807" y="238125"/>
                  </a:lnTo>
                  <a:lnTo>
                    <a:pt x="0" y="238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21240750" cy="0"/>
            </a:xfrm>
            <a:custGeom>
              <a:avLst/>
              <a:gdLst/>
              <a:ahLst/>
              <a:cxnLst/>
              <a:rect l="l" t="t" r="r" b="b"/>
              <a:pathLst>
                <a:path w="21240750">
                  <a:moveTo>
                    <a:pt x="0" y="0"/>
                  </a:moveTo>
                  <a:lnTo>
                    <a:pt x="21240750" y="0"/>
                  </a:lnTo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AutoShape 6"/>
          <p:cNvSpPr/>
          <p:nvPr/>
        </p:nvSpPr>
        <p:spPr>
          <a:xfrm rot="-1020">
            <a:off x="1216819" y="9253538"/>
            <a:ext cx="15854362" cy="0"/>
          </a:xfrm>
          <a:prstGeom prst="line">
            <a:avLst/>
          </a:prstGeom>
          <a:ln w="9525" cap="rnd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1130472" y="500784"/>
            <a:ext cx="16471728" cy="3427736"/>
            <a:chOff x="0" y="0"/>
            <a:chExt cx="21962304" cy="4570313"/>
          </a:xfrm>
        </p:grpSpPr>
        <p:sp>
          <p:nvSpPr>
            <p:cNvPr id="8" name="Freeform 8"/>
            <p:cNvSpPr/>
            <p:nvPr/>
          </p:nvSpPr>
          <p:spPr>
            <a:xfrm>
              <a:off x="626304" y="2138263"/>
              <a:ext cx="21336000" cy="2432050"/>
            </a:xfrm>
            <a:custGeom>
              <a:avLst/>
              <a:gdLst/>
              <a:ahLst/>
              <a:cxnLst/>
              <a:rect l="l" t="t" r="r" b="b"/>
              <a:pathLst>
                <a:path w="21336000" h="2432050">
                  <a:moveTo>
                    <a:pt x="0" y="0"/>
                  </a:moveTo>
                  <a:lnTo>
                    <a:pt x="21336000" y="0"/>
                  </a:lnTo>
                  <a:lnTo>
                    <a:pt x="21336000" y="2432050"/>
                  </a:lnTo>
                  <a:lnTo>
                    <a:pt x="0" y="24320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39" b="-120939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1336000" cy="243205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defRPr sz="2600" b="1">
                  <a:solidFill>
                    <a:srgbClr val="000000"/>
                  </a:solidFill>
                  <a:latin typeface="Verdana"/>
                </a:defRPr>
              </a:pPr>
              <a:r>
                <a:t>1. INTRODUCTION: MOTIVATION &amp; NEED FOR AGENTIC AI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106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Final Project Review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39840" y="9413557"/>
            <a:ext cx="56083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Department of AI &amp; ML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978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2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645557" y="204788"/>
            <a:ext cx="1248680" cy="1714100"/>
            <a:chOff x="0" y="0"/>
            <a:chExt cx="1664906" cy="22854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64843" cy="2285492"/>
            </a:xfrm>
            <a:custGeom>
              <a:avLst/>
              <a:gdLst/>
              <a:ahLst/>
              <a:cxnLst/>
              <a:rect l="l" t="t" r="r" b="b"/>
              <a:pathLst>
                <a:path w="1664843" h="2285492">
                  <a:moveTo>
                    <a:pt x="0" y="0"/>
                  </a:moveTo>
                  <a:lnTo>
                    <a:pt x="1664843" y="0"/>
                  </a:lnTo>
                  <a:lnTo>
                    <a:pt x="1664843" y="2285492"/>
                  </a:lnTo>
                  <a:lnTo>
                    <a:pt x="0" y="228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6" r="-3" b="-3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191370" y="2730736"/>
            <a:ext cx="15819120" cy="545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50" b="1">
                <a:solidFill>
                  <a:srgbClr val="191E32"/>
                </a:solidFill>
                <a:latin typeface="Verdana"/>
              </a:defRPr>
            </a:pPr>
            <a:r>
              <a:rPr sz="2400" dirty="0"/>
              <a:t>Why the Traditional Job Search is Broken: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Developers spend 15 to 20 hours every week browsing portals, tweaking resumes, and copying notes into Notepad.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Most qualified candidates get screened out by automated ATS filters simply due to phrasing mismatches.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250" b="1">
                <a:solidFill>
                  <a:srgbClr val="191E32"/>
                </a:solidFill>
                <a:latin typeface="Verdana"/>
              </a:defRPr>
            </a:pPr>
            <a:r>
              <a:rPr sz="2400" dirty="0"/>
              <a:t>Why Generic Chatbots Fall Short: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Standard LLMs make up fake projects and tools that collapse during real technical interview rounds.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They have zero memory of your authentic experience and cannot search live openings or compile real PDFs.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250" b="1">
                <a:solidFill>
                  <a:srgbClr val="191E32"/>
                </a:solidFill>
                <a:latin typeface="Verdana"/>
              </a:defRPr>
            </a:pPr>
            <a:r>
              <a:rPr sz="2400" dirty="0"/>
              <a:t>Our Core Objective: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Build an autonomous multi-agent system that runs on your verified background to find jobs, write tailored resumes, and prep you for interviews.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212056" y="2343150"/>
            <a:ext cx="15930562" cy="178594"/>
            <a:chOff x="0" y="0"/>
            <a:chExt cx="21240750" cy="238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425807" cy="238125"/>
            </a:xfrm>
            <a:custGeom>
              <a:avLst/>
              <a:gdLst/>
              <a:ahLst/>
              <a:cxnLst/>
              <a:rect l="l" t="t" r="r" b="b"/>
              <a:pathLst>
                <a:path w="12425807" h="238125">
                  <a:moveTo>
                    <a:pt x="0" y="0"/>
                  </a:moveTo>
                  <a:lnTo>
                    <a:pt x="12425807" y="0"/>
                  </a:lnTo>
                  <a:lnTo>
                    <a:pt x="12425807" y="238125"/>
                  </a:lnTo>
                  <a:lnTo>
                    <a:pt x="0" y="238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21240750" cy="0"/>
            </a:xfrm>
            <a:custGeom>
              <a:avLst/>
              <a:gdLst/>
              <a:ahLst/>
              <a:cxnLst/>
              <a:rect l="l" t="t" r="r" b="b"/>
              <a:pathLst>
                <a:path w="21240750">
                  <a:moveTo>
                    <a:pt x="0" y="0"/>
                  </a:moveTo>
                  <a:lnTo>
                    <a:pt x="21240750" y="0"/>
                  </a:lnTo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AutoShape 6"/>
          <p:cNvSpPr/>
          <p:nvPr/>
        </p:nvSpPr>
        <p:spPr>
          <a:xfrm rot="-1020">
            <a:off x="1216819" y="9253538"/>
            <a:ext cx="15854362" cy="0"/>
          </a:xfrm>
          <a:prstGeom prst="line">
            <a:avLst/>
          </a:prstGeom>
          <a:ln w="9525" cap="rnd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1149353" y="457200"/>
            <a:ext cx="16002000" cy="1824038"/>
            <a:chOff x="0" y="0"/>
            <a:chExt cx="21336000" cy="2432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336000" cy="2432050"/>
            </a:xfrm>
            <a:custGeom>
              <a:avLst/>
              <a:gdLst/>
              <a:ahLst/>
              <a:cxnLst/>
              <a:rect l="l" t="t" r="r" b="b"/>
              <a:pathLst>
                <a:path w="21336000" h="2432050">
                  <a:moveTo>
                    <a:pt x="0" y="0"/>
                  </a:moveTo>
                  <a:lnTo>
                    <a:pt x="21336000" y="0"/>
                  </a:lnTo>
                  <a:lnTo>
                    <a:pt x="21336000" y="2432050"/>
                  </a:lnTo>
                  <a:lnTo>
                    <a:pt x="0" y="24320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39" b="-12093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1336000" cy="243205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defRPr sz="2600" b="1">
                  <a:solidFill>
                    <a:srgbClr val="000000"/>
                  </a:solidFill>
                  <a:latin typeface="Verdana"/>
                </a:defRPr>
              </a:pPr>
              <a:r>
                <a:t>2. PROBLEM STATEMENT &amp; BUSINESS CASE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106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Final Project Review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39840" y="9413557"/>
            <a:ext cx="56083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Department of AI &amp; ML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978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3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645557" y="204788"/>
            <a:ext cx="1248680" cy="1714100"/>
            <a:chOff x="0" y="0"/>
            <a:chExt cx="1664906" cy="22854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64843" cy="2285492"/>
            </a:xfrm>
            <a:custGeom>
              <a:avLst/>
              <a:gdLst/>
              <a:ahLst/>
              <a:cxnLst/>
              <a:rect l="l" t="t" r="r" b="b"/>
              <a:pathLst>
                <a:path w="1664843" h="2285492">
                  <a:moveTo>
                    <a:pt x="0" y="0"/>
                  </a:moveTo>
                  <a:lnTo>
                    <a:pt x="1664843" y="0"/>
                  </a:lnTo>
                  <a:lnTo>
                    <a:pt x="1664843" y="2285492"/>
                  </a:lnTo>
                  <a:lnTo>
                    <a:pt x="0" y="228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6" r="-3" b="-3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212056" y="2781300"/>
            <a:ext cx="15819120" cy="4934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50" b="1">
                <a:solidFill>
                  <a:srgbClr val="191E32"/>
                </a:solidFill>
                <a:latin typeface="Verdana"/>
              </a:defRPr>
            </a:pPr>
            <a:r>
              <a:rPr sz="2400" dirty="0"/>
              <a:t>The Core Problems Developers Face: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Application Fatigue: Manually searching job boards and filling repetitive forms burns candidates out quickly.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Tailoring Friction: Rewriting past achievements for every single job posting is slow, tedious, and error-prone.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Scattered Notepad Chaos: Prep notes, sample questions, and past project details end up lost across unindexed files.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250" b="1">
                <a:solidFill>
                  <a:srgbClr val="191E32"/>
                </a:solidFill>
                <a:latin typeface="Verdana"/>
              </a:defRPr>
            </a:pPr>
            <a:r>
              <a:rPr sz="2400" dirty="0"/>
              <a:t>The Real-World Opportunity: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Companies receive hundreds of generic, copy-pasted resumes and struggle to find genuine technical talent.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</a:t>
            </a:r>
            <a:r>
              <a:rPr sz="2400" dirty="0" err="1"/>
              <a:t>HireMe</a:t>
            </a:r>
            <a:r>
              <a:rPr sz="2400" dirty="0"/>
              <a:t> cuts weekly application effort from 23.5 hours to 2.9 hours while keeping 100% of resume claims truthful.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212056" y="2343150"/>
            <a:ext cx="15930562" cy="178594"/>
            <a:chOff x="0" y="0"/>
            <a:chExt cx="21240750" cy="238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425807" cy="238125"/>
            </a:xfrm>
            <a:custGeom>
              <a:avLst/>
              <a:gdLst/>
              <a:ahLst/>
              <a:cxnLst/>
              <a:rect l="l" t="t" r="r" b="b"/>
              <a:pathLst>
                <a:path w="12425807" h="238125">
                  <a:moveTo>
                    <a:pt x="0" y="0"/>
                  </a:moveTo>
                  <a:lnTo>
                    <a:pt x="12425807" y="0"/>
                  </a:lnTo>
                  <a:lnTo>
                    <a:pt x="12425807" y="238125"/>
                  </a:lnTo>
                  <a:lnTo>
                    <a:pt x="0" y="238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21240750" cy="0"/>
            </a:xfrm>
            <a:custGeom>
              <a:avLst/>
              <a:gdLst/>
              <a:ahLst/>
              <a:cxnLst/>
              <a:rect l="l" t="t" r="r" b="b"/>
              <a:pathLst>
                <a:path w="21240750">
                  <a:moveTo>
                    <a:pt x="0" y="0"/>
                  </a:moveTo>
                  <a:lnTo>
                    <a:pt x="21240750" y="0"/>
                  </a:lnTo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AutoShape 6"/>
          <p:cNvSpPr/>
          <p:nvPr/>
        </p:nvSpPr>
        <p:spPr>
          <a:xfrm rot="-1020">
            <a:off x="1216819" y="9253538"/>
            <a:ext cx="15854362" cy="0"/>
          </a:xfrm>
          <a:prstGeom prst="line">
            <a:avLst/>
          </a:prstGeom>
          <a:ln w="9525" cap="rnd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1149353" y="457200"/>
            <a:ext cx="16002000" cy="1824038"/>
            <a:chOff x="0" y="0"/>
            <a:chExt cx="21336000" cy="2432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336000" cy="2432050"/>
            </a:xfrm>
            <a:custGeom>
              <a:avLst/>
              <a:gdLst/>
              <a:ahLst/>
              <a:cxnLst/>
              <a:rect l="l" t="t" r="r" b="b"/>
              <a:pathLst>
                <a:path w="21336000" h="2432050">
                  <a:moveTo>
                    <a:pt x="0" y="0"/>
                  </a:moveTo>
                  <a:lnTo>
                    <a:pt x="21336000" y="0"/>
                  </a:lnTo>
                  <a:lnTo>
                    <a:pt x="21336000" y="2432050"/>
                  </a:lnTo>
                  <a:lnTo>
                    <a:pt x="0" y="24320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39" b="-12093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1336000" cy="243205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defRPr sz="2600" b="1">
                  <a:solidFill>
                    <a:srgbClr val="000000"/>
                  </a:solidFill>
                  <a:latin typeface="Verdana"/>
                </a:defRPr>
              </a:pPr>
              <a:r>
                <a:t>3. USER AND STAKEHOLDER ANALYSIS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106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Final Project Review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39840" y="9413557"/>
            <a:ext cx="56083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Department of AI &amp; ML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978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4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645557" y="204788"/>
            <a:ext cx="1248680" cy="1714100"/>
            <a:chOff x="0" y="0"/>
            <a:chExt cx="1664906" cy="22854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64843" cy="2285492"/>
            </a:xfrm>
            <a:custGeom>
              <a:avLst/>
              <a:gdLst/>
              <a:ahLst/>
              <a:cxnLst/>
              <a:rect l="l" t="t" r="r" b="b"/>
              <a:pathLst>
                <a:path w="1664843" h="2285492">
                  <a:moveTo>
                    <a:pt x="0" y="0"/>
                  </a:moveTo>
                  <a:lnTo>
                    <a:pt x="1664843" y="0"/>
                  </a:lnTo>
                  <a:lnTo>
                    <a:pt x="1664843" y="2285492"/>
                  </a:lnTo>
                  <a:lnTo>
                    <a:pt x="0" y="228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6" r="-3" b="-3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158240" y="2667000"/>
            <a:ext cx="1581912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50" b="1">
                <a:solidFill>
                  <a:srgbClr val="191E32"/>
                </a:solidFill>
                <a:latin typeface="Verdana"/>
              </a:defRPr>
            </a:pPr>
            <a:r>
              <a:rPr sz="2400" dirty="0"/>
              <a:t>Who Benefits From </a:t>
            </a:r>
            <a:r>
              <a:rPr sz="2400" dirty="0" err="1"/>
              <a:t>HireMe</a:t>
            </a:r>
            <a:r>
              <a:rPr sz="2400" dirty="0"/>
              <a:t>: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College Students &amp; Freshers: Preparing for campus placements with structured topic roadmaps and mock interviews.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Early-Career &amp; Senior Developers: Switching roles without spending nights manually rewriting resumes.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Career Switchers: Identifying transferable skills and bridging knowledge gaps for technical roles.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250" b="1">
                <a:solidFill>
                  <a:srgbClr val="191E32"/>
                </a:solidFill>
                <a:latin typeface="Verdana"/>
              </a:defRPr>
            </a:pPr>
            <a:r>
              <a:rPr sz="2400" dirty="0"/>
              <a:t>Key Stakeholder Needs: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Job Seekers: A unified workspace to manage their experience and automate job hunting with one click.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Technical Recruiters: Authentic candidate applications with zero fabricated claims or exaggerated metrics.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College Placement Cells: Clear student readiness tracking, standardized assessments, and interview practice.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212056" y="2343150"/>
            <a:ext cx="15930562" cy="178594"/>
            <a:chOff x="0" y="0"/>
            <a:chExt cx="21240750" cy="238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425807" cy="238125"/>
            </a:xfrm>
            <a:custGeom>
              <a:avLst/>
              <a:gdLst/>
              <a:ahLst/>
              <a:cxnLst/>
              <a:rect l="l" t="t" r="r" b="b"/>
              <a:pathLst>
                <a:path w="12425807" h="238125">
                  <a:moveTo>
                    <a:pt x="0" y="0"/>
                  </a:moveTo>
                  <a:lnTo>
                    <a:pt x="12425807" y="0"/>
                  </a:lnTo>
                  <a:lnTo>
                    <a:pt x="12425807" y="238125"/>
                  </a:lnTo>
                  <a:lnTo>
                    <a:pt x="0" y="238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21240750" cy="0"/>
            </a:xfrm>
            <a:custGeom>
              <a:avLst/>
              <a:gdLst/>
              <a:ahLst/>
              <a:cxnLst/>
              <a:rect l="l" t="t" r="r" b="b"/>
              <a:pathLst>
                <a:path w="21240750">
                  <a:moveTo>
                    <a:pt x="0" y="0"/>
                  </a:moveTo>
                  <a:lnTo>
                    <a:pt x="21240750" y="0"/>
                  </a:lnTo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AutoShape 6"/>
          <p:cNvSpPr/>
          <p:nvPr/>
        </p:nvSpPr>
        <p:spPr>
          <a:xfrm rot="-1020">
            <a:off x="1216819" y="9253538"/>
            <a:ext cx="15854362" cy="0"/>
          </a:xfrm>
          <a:prstGeom prst="line">
            <a:avLst/>
          </a:prstGeom>
          <a:ln w="9525" cap="rnd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1149353" y="457200"/>
            <a:ext cx="16002000" cy="1824038"/>
            <a:chOff x="0" y="0"/>
            <a:chExt cx="21336000" cy="2432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336000" cy="2432050"/>
            </a:xfrm>
            <a:custGeom>
              <a:avLst/>
              <a:gdLst/>
              <a:ahLst/>
              <a:cxnLst/>
              <a:rect l="l" t="t" r="r" b="b"/>
              <a:pathLst>
                <a:path w="21336000" h="2432050">
                  <a:moveTo>
                    <a:pt x="0" y="0"/>
                  </a:moveTo>
                  <a:lnTo>
                    <a:pt x="21336000" y="0"/>
                  </a:lnTo>
                  <a:lnTo>
                    <a:pt x="21336000" y="2432050"/>
                  </a:lnTo>
                  <a:lnTo>
                    <a:pt x="0" y="24320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39" b="-12093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1336000" cy="243205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defRPr sz="2600" b="1">
                  <a:solidFill>
                    <a:srgbClr val="000000"/>
                  </a:solidFill>
                  <a:latin typeface="Verdana"/>
                </a:defRPr>
              </a:pPr>
              <a:r>
                <a:t>4. PROPOSED AGENTIC AI SOLUTION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106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Final Project Review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39840" y="9413557"/>
            <a:ext cx="56083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Department of AI &amp; ML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978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5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645557" y="204788"/>
            <a:ext cx="1248680" cy="1714100"/>
            <a:chOff x="0" y="0"/>
            <a:chExt cx="1664906" cy="22854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64843" cy="2285492"/>
            </a:xfrm>
            <a:custGeom>
              <a:avLst/>
              <a:gdLst/>
              <a:ahLst/>
              <a:cxnLst/>
              <a:rect l="l" t="t" r="r" b="b"/>
              <a:pathLst>
                <a:path w="1664843" h="2285492">
                  <a:moveTo>
                    <a:pt x="0" y="0"/>
                  </a:moveTo>
                  <a:lnTo>
                    <a:pt x="1664843" y="0"/>
                  </a:lnTo>
                  <a:lnTo>
                    <a:pt x="1664843" y="2285492"/>
                  </a:lnTo>
                  <a:lnTo>
                    <a:pt x="0" y="228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6" r="-3" b="-3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158240" y="2679410"/>
            <a:ext cx="15819120" cy="5929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50" b="1">
                <a:solidFill>
                  <a:srgbClr val="191E32"/>
                </a:solidFill>
                <a:latin typeface="Verdana"/>
              </a:defRPr>
            </a:pPr>
            <a:r>
              <a:rPr sz="2400" dirty="0"/>
              <a:t>A Unified Dual-Division Platform: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Combines interactive interview preparation with an autonomous multi-agent execution engine in one place.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Grounds every single action and resume bullet in candidate documents stored in a local FAISS vector database.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250" b="1">
                <a:solidFill>
                  <a:srgbClr val="191E32"/>
                </a:solidFill>
                <a:latin typeface="Verdana"/>
              </a:defRPr>
            </a:pPr>
            <a:r>
              <a:rPr sz="2400" dirty="0"/>
              <a:t>Division 1: Interactive Preparation Studio: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Neural Voice Mock Interview Arena: Spoken interviews that adapt follow-up questions to candidate speech in real time.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Technical Assessment Lab: 40-30-30 quizzes (Easy, Medium, Hard) across 7 engineering domains.</a:t>
            </a:r>
            <a:endParaRPr lang="en-US" sz="2400" dirty="0"/>
          </a:p>
          <a:p>
            <a:pPr marL="342900" indent="-342900">
              <a:spcAft>
                <a:spcPts val="400"/>
              </a:spcAft>
              <a:buSzPct val="140000"/>
              <a:buFont typeface="Arial" panose="020B0604020202020204" pitchFamily="34" charset="0"/>
              <a:buChar char="•"/>
              <a:defRPr sz="2000">
                <a:solidFill>
                  <a:srgbClr val="323741"/>
                </a:solidFill>
                <a:latin typeface="Verdana"/>
              </a:defRPr>
            </a:pPr>
            <a:r>
              <a:rPr lang="en-IN" sz="2400" dirty="0"/>
              <a:t>RoadMap and Resource locater : Searches the web for resources and roadmap.</a:t>
            </a:r>
            <a:endParaRPr sz="2400" dirty="0"/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Monaco Code Sandbox: Built-in multi-language code editor with instant test execution.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250" b="1">
                <a:solidFill>
                  <a:srgbClr val="191E32"/>
                </a:solidFill>
                <a:latin typeface="Verdana"/>
              </a:defRPr>
            </a:pPr>
            <a:r>
              <a:rPr sz="2400" dirty="0"/>
              <a:t>Division 2: Autonomous Multi-Agent Fleet: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A coordinated team of AI agents that discovers live jobs, compiles customized ATS resumes, and researches interview loops.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212056" y="2343150"/>
            <a:ext cx="15930562" cy="178594"/>
            <a:chOff x="0" y="0"/>
            <a:chExt cx="21240750" cy="238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425807" cy="238125"/>
            </a:xfrm>
            <a:custGeom>
              <a:avLst/>
              <a:gdLst/>
              <a:ahLst/>
              <a:cxnLst/>
              <a:rect l="l" t="t" r="r" b="b"/>
              <a:pathLst>
                <a:path w="12425807" h="238125">
                  <a:moveTo>
                    <a:pt x="0" y="0"/>
                  </a:moveTo>
                  <a:lnTo>
                    <a:pt x="12425807" y="0"/>
                  </a:lnTo>
                  <a:lnTo>
                    <a:pt x="12425807" y="238125"/>
                  </a:lnTo>
                  <a:lnTo>
                    <a:pt x="0" y="238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21240750" cy="0"/>
            </a:xfrm>
            <a:custGeom>
              <a:avLst/>
              <a:gdLst/>
              <a:ahLst/>
              <a:cxnLst/>
              <a:rect l="l" t="t" r="r" b="b"/>
              <a:pathLst>
                <a:path w="21240750">
                  <a:moveTo>
                    <a:pt x="0" y="0"/>
                  </a:moveTo>
                  <a:lnTo>
                    <a:pt x="21240750" y="0"/>
                  </a:lnTo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AutoShape 6"/>
          <p:cNvSpPr/>
          <p:nvPr/>
        </p:nvSpPr>
        <p:spPr>
          <a:xfrm rot="-1020">
            <a:off x="1216819" y="9253538"/>
            <a:ext cx="15854362" cy="0"/>
          </a:xfrm>
          <a:prstGeom prst="line">
            <a:avLst/>
          </a:prstGeom>
          <a:ln w="9525" cap="rnd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1149353" y="457200"/>
            <a:ext cx="16002000" cy="1824038"/>
            <a:chOff x="0" y="0"/>
            <a:chExt cx="21336000" cy="2432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336000" cy="2432050"/>
            </a:xfrm>
            <a:custGeom>
              <a:avLst/>
              <a:gdLst/>
              <a:ahLst/>
              <a:cxnLst/>
              <a:rect l="l" t="t" r="r" b="b"/>
              <a:pathLst>
                <a:path w="21336000" h="2432050">
                  <a:moveTo>
                    <a:pt x="0" y="0"/>
                  </a:moveTo>
                  <a:lnTo>
                    <a:pt x="21336000" y="0"/>
                  </a:lnTo>
                  <a:lnTo>
                    <a:pt x="21336000" y="2432050"/>
                  </a:lnTo>
                  <a:lnTo>
                    <a:pt x="0" y="24320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39" b="-12093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1336000" cy="243205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defRPr sz="2600" b="1">
                  <a:solidFill>
                    <a:srgbClr val="000000"/>
                  </a:solidFill>
                  <a:latin typeface="Verdana"/>
                </a:defRPr>
              </a:pPr>
              <a:r>
                <a:t>5. DATASET &amp; CANDIDATE KNOWLEDGE SOURCES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106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Final Project Review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39840" y="9413557"/>
            <a:ext cx="56083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Department of AI &amp; ML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978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6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645557" y="204788"/>
            <a:ext cx="1248680" cy="1714100"/>
            <a:chOff x="0" y="0"/>
            <a:chExt cx="1664906" cy="22854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64843" cy="2285492"/>
            </a:xfrm>
            <a:custGeom>
              <a:avLst/>
              <a:gdLst/>
              <a:ahLst/>
              <a:cxnLst/>
              <a:rect l="l" t="t" r="r" b="b"/>
              <a:pathLst>
                <a:path w="1664843" h="2285492">
                  <a:moveTo>
                    <a:pt x="0" y="0"/>
                  </a:moveTo>
                  <a:lnTo>
                    <a:pt x="1664843" y="0"/>
                  </a:lnTo>
                  <a:lnTo>
                    <a:pt x="1664843" y="2285492"/>
                  </a:lnTo>
                  <a:lnTo>
                    <a:pt x="0" y="228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6" r="-3" b="-3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212056" y="2663557"/>
            <a:ext cx="15819120" cy="4144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50" b="1">
                <a:solidFill>
                  <a:srgbClr val="191E32"/>
                </a:solidFill>
                <a:latin typeface="Verdana"/>
              </a:defRPr>
            </a:pPr>
            <a:r>
              <a:rPr sz="2400" dirty="0"/>
              <a:t>Private Multi-Collection FAISS Vector Store: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Candidate Dossier: Stores verified work history, projects, GitHub repositories, and core technical skills.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Market Intelligence: Caches target company tech stacks, role expectations, and past hiring patterns.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250" b="1">
                <a:solidFill>
                  <a:srgbClr val="191E32"/>
                </a:solidFill>
                <a:latin typeface="Verdana"/>
              </a:defRPr>
            </a:pPr>
            <a:r>
              <a:rPr sz="2400" dirty="0"/>
              <a:t>Local Privacy &amp; Fast Retrieval: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Candidate records stay in local storage and private vector indices, with zero personal data leaked to public models.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3,072-dimensional embeddings via Google text-embedding-004 provide sub-35ms semantic search retrieval.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212056" y="2343150"/>
            <a:ext cx="15930562" cy="178594"/>
            <a:chOff x="0" y="0"/>
            <a:chExt cx="21240750" cy="238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425807" cy="238125"/>
            </a:xfrm>
            <a:custGeom>
              <a:avLst/>
              <a:gdLst/>
              <a:ahLst/>
              <a:cxnLst/>
              <a:rect l="l" t="t" r="r" b="b"/>
              <a:pathLst>
                <a:path w="12425807" h="238125">
                  <a:moveTo>
                    <a:pt x="0" y="0"/>
                  </a:moveTo>
                  <a:lnTo>
                    <a:pt x="12425807" y="0"/>
                  </a:lnTo>
                  <a:lnTo>
                    <a:pt x="12425807" y="238125"/>
                  </a:lnTo>
                  <a:lnTo>
                    <a:pt x="0" y="238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21240750" cy="0"/>
            </a:xfrm>
            <a:custGeom>
              <a:avLst/>
              <a:gdLst/>
              <a:ahLst/>
              <a:cxnLst/>
              <a:rect l="l" t="t" r="r" b="b"/>
              <a:pathLst>
                <a:path w="21240750">
                  <a:moveTo>
                    <a:pt x="0" y="0"/>
                  </a:moveTo>
                  <a:lnTo>
                    <a:pt x="21240750" y="0"/>
                  </a:lnTo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AutoShape 6"/>
          <p:cNvSpPr/>
          <p:nvPr/>
        </p:nvSpPr>
        <p:spPr>
          <a:xfrm rot="-1020">
            <a:off x="1216819" y="9253538"/>
            <a:ext cx="15854362" cy="0"/>
          </a:xfrm>
          <a:prstGeom prst="line">
            <a:avLst/>
          </a:prstGeom>
          <a:ln w="9525" cap="rnd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1149353" y="457200"/>
            <a:ext cx="16002000" cy="1824038"/>
            <a:chOff x="0" y="0"/>
            <a:chExt cx="21336000" cy="2432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336000" cy="2432050"/>
            </a:xfrm>
            <a:custGeom>
              <a:avLst/>
              <a:gdLst/>
              <a:ahLst/>
              <a:cxnLst/>
              <a:rect l="l" t="t" r="r" b="b"/>
              <a:pathLst>
                <a:path w="21336000" h="2432050">
                  <a:moveTo>
                    <a:pt x="0" y="0"/>
                  </a:moveTo>
                  <a:lnTo>
                    <a:pt x="21336000" y="0"/>
                  </a:lnTo>
                  <a:lnTo>
                    <a:pt x="21336000" y="2432050"/>
                  </a:lnTo>
                  <a:lnTo>
                    <a:pt x="0" y="24320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39" b="-12093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1336000" cy="243205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defRPr sz="2600" b="1">
                  <a:solidFill>
                    <a:srgbClr val="000000"/>
                  </a:solidFill>
                  <a:latin typeface="Verdana"/>
                </a:defRPr>
              </a:pPr>
              <a:r>
                <a:t>6. TOOLS AND TECHNOLOGIES USED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106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Final Project Review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39840" y="9413557"/>
            <a:ext cx="56083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Department of AI &amp; ML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978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7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645557" y="204788"/>
            <a:ext cx="1248680" cy="1714100"/>
            <a:chOff x="0" y="0"/>
            <a:chExt cx="1664906" cy="22854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64843" cy="2285492"/>
            </a:xfrm>
            <a:custGeom>
              <a:avLst/>
              <a:gdLst/>
              <a:ahLst/>
              <a:cxnLst/>
              <a:rect l="l" t="t" r="r" b="b"/>
              <a:pathLst>
                <a:path w="1664843" h="2285492">
                  <a:moveTo>
                    <a:pt x="0" y="0"/>
                  </a:moveTo>
                  <a:lnTo>
                    <a:pt x="1664843" y="0"/>
                  </a:lnTo>
                  <a:lnTo>
                    <a:pt x="1664843" y="2285492"/>
                  </a:lnTo>
                  <a:lnTo>
                    <a:pt x="0" y="228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6" r="-3" b="-3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224915" y="2450000"/>
          <a:ext cx="15819120" cy="64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1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1428">
                <a:tc>
                  <a:txBody>
                    <a:bodyPr/>
                    <a:lstStyle/>
                    <a:p>
                      <a:pPr>
                        <a:defRPr sz="175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Layer / Domain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5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Technologies &amp; Frameworks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5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Role in the Platform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1428">
                <a:tc>
                  <a:txBody>
                    <a:bodyPr/>
                    <a:lstStyle/>
                    <a:p>
                      <a:pPr>
                        <a:defRPr sz="155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Frontend Client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React 19, Vite 7, Monaco Editor, Web Speech API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Interactive UI, live code sandbox, and real-time voice interview studio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1428">
                <a:tc>
                  <a:txBody>
                    <a:bodyPr/>
                    <a:lstStyle/>
                    <a:p>
                      <a:pPr>
                        <a:defRPr sz="155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Orchestrator 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Node.js v20, Express 5.1, Server-Sent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Central Blackboard state machine, event telemetry, and approval controls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1428">
                <a:tc>
                  <a:txBody>
                    <a:bodyPr/>
                    <a:lstStyle/>
                    <a:p>
                      <a:pPr>
                        <a:defRPr sz="155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AI Agent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Python 3.12, Google Gemini 2.5 Flash / Pro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Multi-agent coordination, Google X-Y-Z bullet rewrites, and structured outputs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1428">
                <a:tc>
                  <a:txBody>
                    <a:bodyPr/>
                    <a:lstStyle/>
                    <a:p>
                      <a:pPr>
                        <a:defRPr sz="155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Vector Memory &amp;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FAISS, Google text-embedding-004 (3,072-dim)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Private candidate memory, QA vault, and sub-35ms grounded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1428">
                <a:tc>
                  <a:txBody>
                    <a:bodyPr/>
                    <a:lstStyle/>
                    <a:p>
                      <a:pPr>
                        <a:defRPr sz="155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Document Compiler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ReportLab Flowables, pdfplumber ATS Audit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Programmatic single-page PDF generation and multi-factor ATS verification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1432">
                <a:tc>
                  <a:txBody>
                    <a:bodyPr/>
                    <a:lstStyle/>
                    <a:p>
                      <a:pPr>
                        <a:defRPr sz="155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Tool Automation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DuckDuckGo Web Search, Playwright CDP, 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 b="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Live job opening discovery and interview questions intelligence mining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212056" y="2343150"/>
            <a:ext cx="15930562" cy="178594"/>
            <a:chOff x="0" y="0"/>
            <a:chExt cx="21240750" cy="238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425807" cy="238125"/>
            </a:xfrm>
            <a:custGeom>
              <a:avLst/>
              <a:gdLst/>
              <a:ahLst/>
              <a:cxnLst/>
              <a:rect l="l" t="t" r="r" b="b"/>
              <a:pathLst>
                <a:path w="12425807" h="238125">
                  <a:moveTo>
                    <a:pt x="0" y="0"/>
                  </a:moveTo>
                  <a:lnTo>
                    <a:pt x="12425807" y="0"/>
                  </a:lnTo>
                  <a:lnTo>
                    <a:pt x="12425807" y="238125"/>
                  </a:lnTo>
                  <a:lnTo>
                    <a:pt x="0" y="238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21240750" cy="0"/>
            </a:xfrm>
            <a:custGeom>
              <a:avLst/>
              <a:gdLst/>
              <a:ahLst/>
              <a:cxnLst/>
              <a:rect l="l" t="t" r="r" b="b"/>
              <a:pathLst>
                <a:path w="21240750">
                  <a:moveTo>
                    <a:pt x="0" y="0"/>
                  </a:moveTo>
                  <a:lnTo>
                    <a:pt x="21240750" y="0"/>
                  </a:lnTo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AutoShape 6"/>
          <p:cNvSpPr/>
          <p:nvPr/>
        </p:nvSpPr>
        <p:spPr>
          <a:xfrm rot="-1020">
            <a:off x="1216819" y="9253538"/>
            <a:ext cx="15854362" cy="0"/>
          </a:xfrm>
          <a:prstGeom prst="line">
            <a:avLst/>
          </a:prstGeom>
          <a:ln w="9525" cap="rnd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1149353" y="457200"/>
            <a:ext cx="16002000" cy="1824038"/>
            <a:chOff x="0" y="0"/>
            <a:chExt cx="21336000" cy="2432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336000" cy="2432050"/>
            </a:xfrm>
            <a:custGeom>
              <a:avLst/>
              <a:gdLst/>
              <a:ahLst/>
              <a:cxnLst/>
              <a:rect l="l" t="t" r="r" b="b"/>
              <a:pathLst>
                <a:path w="21336000" h="2432050">
                  <a:moveTo>
                    <a:pt x="0" y="0"/>
                  </a:moveTo>
                  <a:lnTo>
                    <a:pt x="21336000" y="0"/>
                  </a:lnTo>
                  <a:lnTo>
                    <a:pt x="21336000" y="2432050"/>
                  </a:lnTo>
                  <a:lnTo>
                    <a:pt x="0" y="24320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39" b="-12093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1336000" cy="243205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defRPr sz="2600" b="1">
                  <a:solidFill>
                    <a:srgbClr val="000000"/>
                  </a:solidFill>
                  <a:latin typeface="Verdana"/>
                </a:defRPr>
              </a:pPr>
              <a:r>
                <a:t>7. AGENT ARCHITECTURE &amp; REASONING FLOW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106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Final Project Review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39840" y="9413557"/>
            <a:ext cx="56083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Department of AI &amp; ML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978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8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645557" y="204788"/>
            <a:ext cx="1248680" cy="1714100"/>
            <a:chOff x="0" y="0"/>
            <a:chExt cx="1664906" cy="22854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64843" cy="2285492"/>
            </a:xfrm>
            <a:custGeom>
              <a:avLst/>
              <a:gdLst/>
              <a:ahLst/>
              <a:cxnLst/>
              <a:rect l="l" t="t" r="r" b="b"/>
              <a:pathLst>
                <a:path w="1664843" h="2285492">
                  <a:moveTo>
                    <a:pt x="0" y="0"/>
                  </a:moveTo>
                  <a:lnTo>
                    <a:pt x="1664843" y="0"/>
                  </a:lnTo>
                  <a:lnTo>
                    <a:pt x="1664843" y="2285492"/>
                  </a:lnTo>
                  <a:lnTo>
                    <a:pt x="0" y="228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6" r="-3" b="-3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1224915" y="8200000"/>
            <a:ext cx="1581912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900">
                <a:solidFill>
                  <a:srgbClr val="282D3C"/>
                </a:solidFill>
                <a:latin typeface="Verdana"/>
              </a:defRPr>
            </a:pPr>
            <a:r>
              <a:t>•  Perception &amp; Memory: Raw candidate documents are indexed into private FAISS collections for factual grounding.</a:t>
            </a:r>
          </a:p>
          <a:p>
            <a:pPr>
              <a:spcAft>
                <a:spcPts val="400"/>
              </a:spcAft>
              <a:defRPr sz="1900">
                <a:solidFill>
                  <a:srgbClr val="282D3C"/>
                </a:solidFill>
                <a:latin typeface="Verdana"/>
              </a:defRPr>
            </a:pPr>
            <a:r>
              <a:t>•  Action Engine: Coordinated agents execute web discovery, Google X-Y-Z resume drafting, and interview intelligence mining.</a:t>
            </a:r>
          </a:p>
        </p:txBody>
      </p:sp>
      <p:pic>
        <p:nvPicPr>
          <p:cNvPr id="18" name="Picture 15" descr="fai_d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4000" y="2440000"/>
            <a:ext cx="11300000" cy="565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212056" y="2343150"/>
            <a:ext cx="15930562" cy="178594"/>
            <a:chOff x="0" y="0"/>
            <a:chExt cx="21240750" cy="238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425807" cy="238125"/>
            </a:xfrm>
            <a:custGeom>
              <a:avLst/>
              <a:gdLst/>
              <a:ahLst/>
              <a:cxnLst/>
              <a:rect l="l" t="t" r="r" b="b"/>
              <a:pathLst>
                <a:path w="12425807" h="238125">
                  <a:moveTo>
                    <a:pt x="0" y="0"/>
                  </a:moveTo>
                  <a:lnTo>
                    <a:pt x="12425807" y="0"/>
                  </a:lnTo>
                  <a:lnTo>
                    <a:pt x="12425807" y="238125"/>
                  </a:lnTo>
                  <a:lnTo>
                    <a:pt x="0" y="238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21240750" cy="0"/>
            </a:xfrm>
            <a:custGeom>
              <a:avLst/>
              <a:gdLst/>
              <a:ahLst/>
              <a:cxnLst/>
              <a:rect l="l" t="t" r="r" b="b"/>
              <a:pathLst>
                <a:path w="21240750">
                  <a:moveTo>
                    <a:pt x="0" y="0"/>
                  </a:moveTo>
                  <a:lnTo>
                    <a:pt x="21240750" y="0"/>
                  </a:lnTo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AutoShape 6"/>
          <p:cNvSpPr/>
          <p:nvPr/>
        </p:nvSpPr>
        <p:spPr>
          <a:xfrm rot="-1020">
            <a:off x="1216819" y="9253538"/>
            <a:ext cx="15854362" cy="0"/>
          </a:xfrm>
          <a:prstGeom prst="line">
            <a:avLst/>
          </a:prstGeom>
          <a:ln w="9525" cap="rnd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1149353" y="457200"/>
            <a:ext cx="16002000" cy="1824038"/>
            <a:chOff x="0" y="0"/>
            <a:chExt cx="21336000" cy="2432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336000" cy="2432050"/>
            </a:xfrm>
            <a:custGeom>
              <a:avLst/>
              <a:gdLst/>
              <a:ahLst/>
              <a:cxnLst/>
              <a:rect l="l" t="t" r="r" b="b"/>
              <a:pathLst>
                <a:path w="21336000" h="2432050">
                  <a:moveTo>
                    <a:pt x="0" y="0"/>
                  </a:moveTo>
                  <a:lnTo>
                    <a:pt x="21336000" y="0"/>
                  </a:lnTo>
                  <a:lnTo>
                    <a:pt x="21336000" y="2432050"/>
                  </a:lnTo>
                  <a:lnTo>
                    <a:pt x="0" y="24320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39" b="-12093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1336000" cy="243205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defRPr sz="2600" b="1">
                  <a:solidFill>
                    <a:srgbClr val="000000"/>
                  </a:solidFill>
                  <a:latin typeface="Verdana"/>
                </a:defRPr>
              </a:pPr>
              <a:r>
                <a:t>8. AGENT WORKFLOW &amp; BLACKBOARD ORCHESTRATION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106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Final Project Review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39840" y="9413557"/>
            <a:ext cx="56083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Department of AI &amp; ML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978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9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645557" y="204788"/>
            <a:ext cx="1248680" cy="1714100"/>
            <a:chOff x="0" y="0"/>
            <a:chExt cx="1664906" cy="22854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64843" cy="2285492"/>
            </a:xfrm>
            <a:custGeom>
              <a:avLst/>
              <a:gdLst/>
              <a:ahLst/>
              <a:cxnLst/>
              <a:rect l="l" t="t" r="r" b="b"/>
              <a:pathLst>
                <a:path w="1664843" h="2285492">
                  <a:moveTo>
                    <a:pt x="0" y="0"/>
                  </a:moveTo>
                  <a:lnTo>
                    <a:pt x="1664843" y="0"/>
                  </a:lnTo>
                  <a:lnTo>
                    <a:pt x="1664843" y="2285492"/>
                  </a:lnTo>
                  <a:lnTo>
                    <a:pt x="0" y="228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6" r="-3" b="-3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6" name="Picture 15" descr="HireMe_Diagram_3_Blackboard_Workflow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915" y="2450000"/>
            <a:ext cx="15819120" cy="450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24915" y="7150000"/>
            <a:ext cx="1581912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50">
                <a:solidFill>
                  <a:srgbClr val="2D3241"/>
                </a:solidFill>
                <a:latin typeface="Verdana"/>
              </a:defRPr>
            </a:pPr>
            <a:r>
              <a:t>•  Agent 1 (Job Hunter): Searches live job boards via MCP, extracting verified opening URLs and role requirements.</a:t>
            </a:r>
          </a:p>
          <a:p>
            <a:pPr>
              <a:spcAft>
                <a:spcPts val="400"/>
              </a:spcAft>
              <a:defRPr sz="1850">
                <a:solidFill>
                  <a:srgbClr val="2D3241"/>
                </a:solidFill>
                <a:latin typeface="Verdana"/>
              </a:defRPr>
            </a:pPr>
            <a:r>
              <a:t>•  Agent 2 (Resume Compiler): Pulls verified achievements from FAISS and creates tailored, single-page PDFs per job.</a:t>
            </a:r>
          </a:p>
          <a:p>
            <a:pPr>
              <a:spcAft>
                <a:spcPts val="400"/>
              </a:spcAft>
              <a:defRPr sz="1850">
                <a:solidFill>
                  <a:srgbClr val="2D3241"/>
                </a:solidFill>
                <a:latin typeface="Verdana"/>
              </a:defRPr>
            </a:pPr>
            <a:r>
              <a:t>•  Agent 3 (Interview Miner): Researches company-specific interview rounds, recent coding questions, and prep tips.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212056" y="2343150"/>
            <a:ext cx="15930562" cy="178594"/>
            <a:chOff x="0" y="0"/>
            <a:chExt cx="21240750" cy="238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425807" cy="238125"/>
            </a:xfrm>
            <a:custGeom>
              <a:avLst/>
              <a:gdLst/>
              <a:ahLst/>
              <a:cxnLst/>
              <a:rect l="l" t="t" r="r" b="b"/>
              <a:pathLst>
                <a:path w="12425807" h="238125">
                  <a:moveTo>
                    <a:pt x="0" y="0"/>
                  </a:moveTo>
                  <a:lnTo>
                    <a:pt x="12425807" y="0"/>
                  </a:lnTo>
                  <a:lnTo>
                    <a:pt x="12425807" y="238125"/>
                  </a:lnTo>
                  <a:lnTo>
                    <a:pt x="0" y="238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21240750" cy="0"/>
            </a:xfrm>
            <a:custGeom>
              <a:avLst/>
              <a:gdLst/>
              <a:ahLst/>
              <a:cxnLst/>
              <a:rect l="l" t="t" r="r" b="b"/>
              <a:pathLst>
                <a:path w="21240750">
                  <a:moveTo>
                    <a:pt x="0" y="0"/>
                  </a:moveTo>
                  <a:lnTo>
                    <a:pt x="21240750" y="0"/>
                  </a:lnTo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AutoShape 6"/>
          <p:cNvSpPr/>
          <p:nvPr/>
        </p:nvSpPr>
        <p:spPr>
          <a:xfrm rot="-1020">
            <a:off x="1216819" y="9253538"/>
            <a:ext cx="15854362" cy="0"/>
          </a:xfrm>
          <a:prstGeom prst="line">
            <a:avLst/>
          </a:prstGeom>
          <a:ln w="9525" cap="rnd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1149353" y="457200"/>
            <a:ext cx="16002000" cy="1824038"/>
            <a:chOff x="0" y="0"/>
            <a:chExt cx="21336000" cy="2432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336000" cy="2432050"/>
            </a:xfrm>
            <a:custGeom>
              <a:avLst/>
              <a:gdLst/>
              <a:ahLst/>
              <a:cxnLst/>
              <a:rect l="l" t="t" r="r" b="b"/>
              <a:pathLst>
                <a:path w="21336000" h="2432050">
                  <a:moveTo>
                    <a:pt x="0" y="0"/>
                  </a:moveTo>
                  <a:lnTo>
                    <a:pt x="21336000" y="0"/>
                  </a:lnTo>
                  <a:lnTo>
                    <a:pt x="21336000" y="2432050"/>
                  </a:lnTo>
                  <a:lnTo>
                    <a:pt x="0" y="24320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39" b="-12093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1336000" cy="243205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defRPr sz="2600" b="1">
                  <a:solidFill>
                    <a:srgbClr val="000000"/>
                  </a:solidFill>
                  <a:latin typeface="Verdana"/>
                </a:defRPr>
              </a:pPr>
              <a:r>
                <a:t>9. AGENTIC RAG IMPLEMENTATION &amp; ATS AUDIT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106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Final Project Review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39840" y="9413557"/>
            <a:ext cx="56083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Department of AI &amp; ML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978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10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645557" y="204788"/>
            <a:ext cx="1248680" cy="1714100"/>
            <a:chOff x="0" y="0"/>
            <a:chExt cx="1664906" cy="22854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64843" cy="2285492"/>
            </a:xfrm>
            <a:custGeom>
              <a:avLst/>
              <a:gdLst/>
              <a:ahLst/>
              <a:cxnLst/>
              <a:rect l="l" t="t" r="r" b="b"/>
              <a:pathLst>
                <a:path w="1664843" h="2285492">
                  <a:moveTo>
                    <a:pt x="0" y="0"/>
                  </a:moveTo>
                  <a:lnTo>
                    <a:pt x="1664843" y="0"/>
                  </a:lnTo>
                  <a:lnTo>
                    <a:pt x="1664843" y="2285492"/>
                  </a:lnTo>
                  <a:lnTo>
                    <a:pt x="0" y="228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6" r="-3" b="-3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6" name="Picture 15" descr="HireMe_Diagram_5_Agentic_RAG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915" y="2450000"/>
            <a:ext cx="15819120" cy="445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24915" y="7100000"/>
            <a:ext cx="1581912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91E32"/>
                </a:solidFill>
                <a:latin typeface="Verdana"/>
              </a:defRPr>
            </a:pPr>
            <a:r>
              <a:t>Realistic 4-Factor ATS Scoring (Replaces Naive 100% Keyword Checks):</a:t>
            </a:r>
          </a:p>
          <a:p>
            <a:pPr>
              <a:spcAft>
                <a:spcPts val="250"/>
              </a:spcAft>
              <a:defRPr sz="1750">
                <a:solidFill>
                  <a:srgbClr val="323741"/>
                </a:solidFill>
                <a:latin typeface="Verdana"/>
              </a:defRPr>
            </a:pPr>
            <a:r>
              <a:t>•  45% Technical Skill Overlap: Compares job requirements with resume skills, highlighting matched tools and genuine gaps.</a:t>
            </a:r>
          </a:p>
          <a:p>
            <a:pPr>
              <a:spcAft>
                <a:spcPts val="250"/>
              </a:spcAft>
              <a:defRPr sz="1750">
                <a:solidFill>
                  <a:srgbClr val="323741"/>
                </a:solidFill>
                <a:latin typeface="Verdana"/>
              </a:defRPr>
            </a:pPr>
            <a:r>
              <a:t>•  25% Layout &amp; Single-Page Integrity: Enforces strict single-page PDF structure and standard ATS-readable headings.</a:t>
            </a:r>
          </a:p>
          <a:p>
            <a:pPr>
              <a:spcAft>
                <a:spcPts val="250"/>
              </a:spcAft>
              <a:defRPr sz="1750">
                <a:solidFill>
                  <a:srgbClr val="323741"/>
                </a:solidFill>
                <a:latin typeface="Verdana"/>
              </a:defRPr>
            </a:pPr>
            <a:r>
              <a:t>•  20% Seniority Alignment: Verifies that job titles and experience depths match the target role expectations.</a:t>
            </a:r>
          </a:p>
          <a:p>
            <a:pPr>
              <a:spcAft>
                <a:spcPts val="250"/>
              </a:spcAft>
              <a:defRPr sz="1750">
                <a:solidFill>
                  <a:srgbClr val="323741"/>
                </a:solidFill>
                <a:latin typeface="Verdana"/>
              </a:defRPr>
            </a:pPr>
            <a:r>
              <a:t>•  10% Google X-Y-Z Metric Density: Checks for quantified business impact, producing realistic 75% to 94% scores.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212056" y="2343150"/>
            <a:ext cx="15930562" cy="178594"/>
            <a:chOff x="0" y="0"/>
            <a:chExt cx="21240750" cy="238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425807" cy="238125"/>
            </a:xfrm>
            <a:custGeom>
              <a:avLst/>
              <a:gdLst/>
              <a:ahLst/>
              <a:cxnLst/>
              <a:rect l="l" t="t" r="r" b="b"/>
              <a:pathLst>
                <a:path w="12425807" h="238125">
                  <a:moveTo>
                    <a:pt x="0" y="0"/>
                  </a:moveTo>
                  <a:lnTo>
                    <a:pt x="12425807" y="0"/>
                  </a:lnTo>
                  <a:lnTo>
                    <a:pt x="12425807" y="238125"/>
                  </a:lnTo>
                  <a:lnTo>
                    <a:pt x="0" y="238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21240750" cy="0"/>
            </a:xfrm>
            <a:custGeom>
              <a:avLst/>
              <a:gdLst/>
              <a:ahLst/>
              <a:cxnLst/>
              <a:rect l="l" t="t" r="r" b="b"/>
              <a:pathLst>
                <a:path w="21240750">
                  <a:moveTo>
                    <a:pt x="0" y="0"/>
                  </a:moveTo>
                  <a:lnTo>
                    <a:pt x="21240750" y="0"/>
                  </a:lnTo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AutoShape 6"/>
          <p:cNvSpPr/>
          <p:nvPr/>
        </p:nvSpPr>
        <p:spPr>
          <a:xfrm rot="-1020">
            <a:off x="1216819" y="9253538"/>
            <a:ext cx="15854362" cy="0"/>
          </a:xfrm>
          <a:prstGeom prst="line">
            <a:avLst/>
          </a:prstGeom>
          <a:ln w="9525" cap="rnd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1149353" y="457200"/>
            <a:ext cx="16002000" cy="1824038"/>
            <a:chOff x="0" y="0"/>
            <a:chExt cx="21336000" cy="2432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336000" cy="2432050"/>
            </a:xfrm>
            <a:custGeom>
              <a:avLst/>
              <a:gdLst/>
              <a:ahLst/>
              <a:cxnLst/>
              <a:rect l="l" t="t" r="r" b="b"/>
              <a:pathLst>
                <a:path w="21336000" h="2432050">
                  <a:moveTo>
                    <a:pt x="0" y="0"/>
                  </a:moveTo>
                  <a:lnTo>
                    <a:pt x="21336000" y="0"/>
                  </a:lnTo>
                  <a:lnTo>
                    <a:pt x="21336000" y="2432050"/>
                  </a:lnTo>
                  <a:lnTo>
                    <a:pt x="0" y="24320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39" b="-12093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1336000" cy="243205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defRPr sz="2600" b="1">
                  <a:solidFill>
                    <a:srgbClr val="000000"/>
                  </a:solidFill>
                  <a:latin typeface="Verdana"/>
                </a:defRPr>
              </a:pPr>
              <a:r>
                <a:t>10. SYSTEM IMPLEMENTATION &amp; FUNCTIONAL PROTOTYPES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106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Final Project Review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39840" y="9413557"/>
            <a:ext cx="56083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Department of AI &amp; ML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978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11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645557" y="204788"/>
            <a:ext cx="1248680" cy="1714100"/>
            <a:chOff x="0" y="0"/>
            <a:chExt cx="1664906" cy="22854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64843" cy="2285492"/>
            </a:xfrm>
            <a:custGeom>
              <a:avLst/>
              <a:gdLst/>
              <a:ahLst/>
              <a:cxnLst/>
              <a:rect l="l" t="t" r="r" b="b"/>
              <a:pathLst>
                <a:path w="1664843" h="2285492">
                  <a:moveTo>
                    <a:pt x="0" y="0"/>
                  </a:moveTo>
                  <a:lnTo>
                    <a:pt x="1664843" y="0"/>
                  </a:lnTo>
                  <a:lnTo>
                    <a:pt x="1664843" y="2285492"/>
                  </a:lnTo>
                  <a:lnTo>
                    <a:pt x="0" y="228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6" r="-3" b="-3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158240" y="2679410"/>
            <a:ext cx="15819120" cy="4934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50" b="1">
                <a:solidFill>
                  <a:srgbClr val="191E32"/>
                </a:solidFill>
                <a:latin typeface="Verdana"/>
              </a:defRPr>
            </a:pPr>
            <a:r>
              <a:rPr sz="2400" dirty="0"/>
              <a:t>Core Application Environments: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Agent Mission Control: Command dashboard streaming real-time terminal logs, discovered jobs, and compiled PDF resumes.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Candidate Workspace: Visual memory bank allowing users to add skills, upload docs, and audit FAISS vector records.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Agentic RAG Chat: Conversational assistant taking real actions on user behalf (saving skills, updating memory, building resumes).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250" b="1">
                <a:solidFill>
                  <a:srgbClr val="191E32"/>
                </a:solidFill>
                <a:latin typeface="Verdana"/>
              </a:defRPr>
            </a:pPr>
            <a:r>
              <a:rPr sz="2400" dirty="0"/>
              <a:t>Interactive Practice Modules: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Mock Interview Arena: Speech-driven interview room with real-time audio transcripts and instant feedback.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Monaco Code Sandbox: Built-in multi-language editor connected to Piston execution engine for live code tests.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212056" y="2343150"/>
            <a:ext cx="15930562" cy="178594"/>
            <a:chOff x="0" y="0"/>
            <a:chExt cx="21240750" cy="238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425807" cy="238125"/>
            </a:xfrm>
            <a:custGeom>
              <a:avLst/>
              <a:gdLst/>
              <a:ahLst/>
              <a:cxnLst/>
              <a:rect l="l" t="t" r="r" b="b"/>
              <a:pathLst>
                <a:path w="12425807" h="238125">
                  <a:moveTo>
                    <a:pt x="0" y="0"/>
                  </a:moveTo>
                  <a:lnTo>
                    <a:pt x="12425807" y="0"/>
                  </a:lnTo>
                  <a:lnTo>
                    <a:pt x="12425807" y="238125"/>
                  </a:lnTo>
                  <a:lnTo>
                    <a:pt x="0" y="238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21240750" cy="0"/>
            </a:xfrm>
            <a:custGeom>
              <a:avLst/>
              <a:gdLst/>
              <a:ahLst/>
              <a:cxnLst/>
              <a:rect l="l" t="t" r="r" b="b"/>
              <a:pathLst>
                <a:path w="21240750">
                  <a:moveTo>
                    <a:pt x="0" y="0"/>
                  </a:moveTo>
                  <a:lnTo>
                    <a:pt x="21240750" y="0"/>
                  </a:lnTo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AutoShape 6"/>
          <p:cNvSpPr/>
          <p:nvPr/>
        </p:nvSpPr>
        <p:spPr>
          <a:xfrm rot="-1020">
            <a:off x="1216819" y="9253538"/>
            <a:ext cx="15854362" cy="0"/>
          </a:xfrm>
          <a:prstGeom prst="line">
            <a:avLst/>
          </a:prstGeom>
          <a:ln w="9525" cap="rnd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1149353" y="457200"/>
            <a:ext cx="16002000" cy="1824038"/>
            <a:chOff x="0" y="0"/>
            <a:chExt cx="21336000" cy="2432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336000" cy="2432050"/>
            </a:xfrm>
            <a:custGeom>
              <a:avLst/>
              <a:gdLst/>
              <a:ahLst/>
              <a:cxnLst/>
              <a:rect l="l" t="t" r="r" b="b"/>
              <a:pathLst>
                <a:path w="21336000" h="2432050">
                  <a:moveTo>
                    <a:pt x="0" y="0"/>
                  </a:moveTo>
                  <a:lnTo>
                    <a:pt x="21336000" y="0"/>
                  </a:lnTo>
                  <a:lnTo>
                    <a:pt x="21336000" y="2432050"/>
                  </a:lnTo>
                  <a:lnTo>
                    <a:pt x="0" y="24320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39" b="-12093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1336000" cy="243205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defRPr sz="2600" b="1">
                  <a:solidFill>
                    <a:srgbClr val="000000"/>
                  </a:solidFill>
                  <a:latin typeface="Verdana"/>
                </a:defRPr>
              </a:pPr>
              <a:r>
                <a:t>11. EXPERIMENTAL EVALUATION &amp; PERFORMANCE RESULTS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106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Final Project Review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39840" y="9413557"/>
            <a:ext cx="56083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Department of AI &amp; ML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978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12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645557" y="204788"/>
            <a:ext cx="1248680" cy="1714100"/>
            <a:chOff x="0" y="0"/>
            <a:chExt cx="1664906" cy="22854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64843" cy="2285492"/>
            </a:xfrm>
            <a:custGeom>
              <a:avLst/>
              <a:gdLst/>
              <a:ahLst/>
              <a:cxnLst/>
              <a:rect l="l" t="t" r="r" b="b"/>
              <a:pathLst>
                <a:path w="1664843" h="2285492">
                  <a:moveTo>
                    <a:pt x="0" y="0"/>
                  </a:moveTo>
                  <a:lnTo>
                    <a:pt x="1664843" y="0"/>
                  </a:lnTo>
                  <a:lnTo>
                    <a:pt x="1664843" y="2285492"/>
                  </a:lnTo>
                  <a:lnTo>
                    <a:pt x="0" y="228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6" r="-3" b="-3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224915" y="2450000"/>
          <a:ext cx="15819120" cy="64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7500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Manual / Generic AI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HireMe Platform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Measured Impact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50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Weekly Application 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23.5 hours / week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2.9 hours / week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B981"/>
                          </a:solidFill>
                          <a:latin typeface="Verdana"/>
                        </a:defRPr>
                      </a:pPr>
                      <a:r>
                        <a:t>87.6% drop in manual overhead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50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ATS Keyword Match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50.4% average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88.0% to 92.4% realistic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B981"/>
                          </a:solidFill>
                          <a:latin typeface="Verdana"/>
                        </a:defRPr>
                      </a:pPr>
                      <a:r>
                        <a:t>+40.0% alignment gain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50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Factual Hallucination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34.2% (generic LLM prompts)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0.0% (strictly grounded in FAISS)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B981"/>
                          </a:solidFill>
                          <a:latin typeface="Verdana"/>
                        </a:defRPr>
                      </a:pPr>
                      <a:r>
                        <a:t>Zero fabricated projects or tools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50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Vector Retrieval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Not Available (no memory)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&lt; 35 ms on local 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B981"/>
                          </a:solidFill>
                          <a:latin typeface="Verdana"/>
                        </a:defRPr>
                      </a:pPr>
                      <a:r>
                        <a:t>Sub-second search 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50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Company Interview Prep 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12.0 hours per company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1.5 hours per company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B981"/>
                          </a:solidFill>
                          <a:latin typeface="Verdana"/>
                        </a:defRPr>
                      </a:pPr>
                      <a:r>
                        <a:t>87.5% reduction in prep effort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212056" y="2343150"/>
            <a:ext cx="15930562" cy="178594"/>
            <a:chOff x="0" y="0"/>
            <a:chExt cx="21240750" cy="238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425807" cy="238125"/>
            </a:xfrm>
            <a:custGeom>
              <a:avLst/>
              <a:gdLst/>
              <a:ahLst/>
              <a:cxnLst/>
              <a:rect l="l" t="t" r="r" b="b"/>
              <a:pathLst>
                <a:path w="12425807" h="238125">
                  <a:moveTo>
                    <a:pt x="0" y="0"/>
                  </a:moveTo>
                  <a:lnTo>
                    <a:pt x="12425807" y="0"/>
                  </a:lnTo>
                  <a:lnTo>
                    <a:pt x="12425807" y="238125"/>
                  </a:lnTo>
                  <a:lnTo>
                    <a:pt x="0" y="238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21240750" cy="0"/>
            </a:xfrm>
            <a:custGeom>
              <a:avLst/>
              <a:gdLst/>
              <a:ahLst/>
              <a:cxnLst/>
              <a:rect l="l" t="t" r="r" b="b"/>
              <a:pathLst>
                <a:path w="21240750">
                  <a:moveTo>
                    <a:pt x="0" y="0"/>
                  </a:moveTo>
                  <a:lnTo>
                    <a:pt x="21240750" y="0"/>
                  </a:lnTo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AutoShape 6"/>
          <p:cNvSpPr/>
          <p:nvPr/>
        </p:nvSpPr>
        <p:spPr>
          <a:xfrm rot="-1020">
            <a:off x="1216819" y="9253538"/>
            <a:ext cx="15854362" cy="0"/>
          </a:xfrm>
          <a:prstGeom prst="line">
            <a:avLst/>
          </a:prstGeom>
          <a:ln w="9525" cap="rnd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1149353" y="457200"/>
            <a:ext cx="16002000" cy="1824038"/>
            <a:chOff x="0" y="0"/>
            <a:chExt cx="21336000" cy="2432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336000" cy="2432050"/>
            </a:xfrm>
            <a:custGeom>
              <a:avLst/>
              <a:gdLst/>
              <a:ahLst/>
              <a:cxnLst/>
              <a:rect l="l" t="t" r="r" b="b"/>
              <a:pathLst>
                <a:path w="21336000" h="2432050">
                  <a:moveTo>
                    <a:pt x="0" y="0"/>
                  </a:moveTo>
                  <a:lnTo>
                    <a:pt x="21336000" y="0"/>
                  </a:lnTo>
                  <a:lnTo>
                    <a:pt x="21336000" y="2432050"/>
                  </a:lnTo>
                  <a:lnTo>
                    <a:pt x="0" y="24320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39" b="-12093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1336000" cy="243205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defRPr sz="2600" b="1">
                  <a:solidFill>
                    <a:srgbClr val="000000"/>
                  </a:solidFill>
                  <a:latin typeface="Verdana"/>
                </a:defRPr>
              </a:pPr>
              <a:r>
                <a:t>13. CONCLUSION AND FUTURE WORK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106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Final Project Review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39840" y="9413557"/>
            <a:ext cx="56083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Department of AI &amp; ML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978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400">
                <a:solidFill>
                  <a:srgbClr val="464B55"/>
                </a:solidFill>
                <a:latin typeface="Verdana"/>
              </a:defRPr>
            </a:pPr>
            <a:r>
              <a:t>14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645557" y="204788"/>
            <a:ext cx="1248680" cy="1714100"/>
            <a:chOff x="0" y="0"/>
            <a:chExt cx="1664906" cy="22854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64843" cy="2285492"/>
            </a:xfrm>
            <a:custGeom>
              <a:avLst/>
              <a:gdLst/>
              <a:ahLst/>
              <a:cxnLst/>
              <a:rect l="l" t="t" r="r" b="b"/>
              <a:pathLst>
                <a:path w="1664843" h="2285492">
                  <a:moveTo>
                    <a:pt x="0" y="0"/>
                  </a:moveTo>
                  <a:lnTo>
                    <a:pt x="1664843" y="0"/>
                  </a:lnTo>
                  <a:lnTo>
                    <a:pt x="1664843" y="2285492"/>
                  </a:lnTo>
                  <a:lnTo>
                    <a:pt x="0" y="228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6" r="-3" b="-3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129475" y="2627243"/>
            <a:ext cx="15819120" cy="4934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250" b="1">
                <a:solidFill>
                  <a:srgbClr val="191E32"/>
                </a:solidFill>
                <a:latin typeface="Verdana"/>
              </a:defRPr>
            </a:pPr>
            <a:r>
              <a:rPr sz="2400" dirty="0"/>
              <a:t>What We Accomplished: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Engineered an autonomous career platform that manages job discovery, resume compilation, and interview prep in one place.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Demonstrated that grounded agentic workflows reduce weekly job hunting time by 87.6% with zero factual hallucinations.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Integrated speech-driven mock interviews, adaptive coding tests, and automated ATS PDF generation into a single system.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250" b="1">
                <a:solidFill>
                  <a:srgbClr val="191E32"/>
                </a:solidFill>
                <a:latin typeface="Verdana"/>
              </a:defRPr>
            </a:pPr>
            <a:r>
              <a:rPr sz="2400" dirty="0"/>
              <a:t>Roadmap &amp; Future Enhancements: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Automated Application Filing: Expanding browser automation to fill out job applications with user confirmation.</a:t>
            </a:r>
          </a:p>
          <a:p>
            <a:pPr>
              <a:spcAft>
                <a:spcPts val="400"/>
              </a:spcAft>
              <a:defRPr sz="2000">
                <a:solidFill>
                  <a:srgbClr val="323741"/>
                </a:solidFill>
                <a:latin typeface="Verdana"/>
              </a:defRPr>
            </a:pPr>
            <a:r>
              <a:rPr sz="2400" dirty="0"/>
              <a:t>•  Interview Calendar Sync: Direct scheduling integration for interview rounds and preparation milestones.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212056" y="2343150"/>
            <a:ext cx="15930562" cy="178594"/>
            <a:chOff x="0" y="0"/>
            <a:chExt cx="21240750" cy="238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425807" cy="238125"/>
            </a:xfrm>
            <a:custGeom>
              <a:avLst/>
              <a:gdLst/>
              <a:ahLst/>
              <a:cxnLst/>
              <a:rect l="l" t="t" r="r" b="b"/>
              <a:pathLst>
                <a:path w="12425807" h="238125">
                  <a:moveTo>
                    <a:pt x="0" y="0"/>
                  </a:moveTo>
                  <a:lnTo>
                    <a:pt x="12425807" y="0"/>
                  </a:lnTo>
                  <a:lnTo>
                    <a:pt x="12425807" y="238125"/>
                  </a:lnTo>
                  <a:lnTo>
                    <a:pt x="0" y="238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21240750" cy="0"/>
            </a:xfrm>
            <a:custGeom>
              <a:avLst/>
              <a:gdLst/>
              <a:ahLst/>
              <a:cxnLst/>
              <a:rect l="l" t="t" r="r" b="b"/>
              <a:pathLst>
                <a:path w="21240750">
                  <a:moveTo>
                    <a:pt x="0" y="0"/>
                  </a:moveTo>
                  <a:lnTo>
                    <a:pt x="21240750" y="0"/>
                  </a:lnTo>
                </a:path>
              </a:pathLst>
            </a:custGeom>
            <a:solidFill>
              <a:srgbClr val="CC0000"/>
            </a:solidFill>
            <a:ln w="14288" cap="sq">
              <a:solidFill>
                <a:srgbClr val="CC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AutoShape 6"/>
          <p:cNvSpPr/>
          <p:nvPr/>
        </p:nvSpPr>
        <p:spPr>
          <a:xfrm rot="-1020">
            <a:off x="1216819" y="9253538"/>
            <a:ext cx="15854362" cy="0"/>
          </a:xfrm>
          <a:prstGeom prst="line">
            <a:avLst/>
          </a:prstGeom>
          <a:ln w="9525" cap="rnd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1149353" y="457200"/>
            <a:ext cx="16002000" cy="1824038"/>
            <a:chOff x="0" y="0"/>
            <a:chExt cx="21336000" cy="2432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336000" cy="2432050"/>
            </a:xfrm>
            <a:custGeom>
              <a:avLst/>
              <a:gdLst/>
              <a:ahLst/>
              <a:cxnLst/>
              <a:rect l="l" t="t" r="r" b="b"/>
              <a:pathLst>
                <a:path w="21336000" h="2432050">
                  <a:moveTo>
                    <a:pt x="0" y="0"/>
                  </a:moveTo>
                  <a:lnTo>
                    <a:pt x="21336000" y="0"/>
                  </a:lnTo>
                  <a:lnTo>
                    <a:pt x="21336000" y="2432050"/>
                  </a:lnTo>
                  <a:lnTo>
                    <a:pt x="0" y="24320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39" b="-12093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1336000" cy="243205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106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First  Review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39840" y="9413557"/>
            <a:ext cx="56083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Department of AI &amp; ML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97840" y="9413557"/>
            <a:ext cx="377952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645557" y="204788"/>
            <a:ext cx="1248680" cy="1714100"/>
            <a:chOff x="0" y="0"/>
            <a:chExt cx="1664906" cy="22854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64843" cy="2285492"/>
            </a:xfrm>
            <a:custGeom>
              <a:avLst/>
              <a:gdLst/>
              <a:ahLst/>
              <a:cxnLst/>
              <a:rect l="l" t="t" r="r" b="b"/>
              <a:pathLst>
                <a:path w="1664843" h="2285492">
                  <a:moveTo>
                    <a:pt x="0" y="0"/>
                  </a:moveTo>
                  <a:lnTo>
                    <a:pt x="1664843" y="0"/>
                  </a:lnTo>
                  <a:lnTo>
                    <a:pt x="1664843" y="2285492"/>
                  </a:lnTo>
                  <a:lnTo>
                    <a:pt x="0" y="228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6" r="-3" b="-3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2000000" y="3600000"/>
            <a:ext cx="14288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5A288C"/>
                </a:solidFill>
                <a:latin typeface="Verdana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1433</Words>
  <Application>Microsoft Office PowerPoint</Application>
  <PresentationFormat>Custom</PresentationFormat>
  <Paragraphs>163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Times New Roman Bold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AIML First Review - A014.pptx</dc:title>
  <cp:lastModifiedBy>Aniketh J</cp:lastModifiedBy>
  <cp:revision>2</cp:revision>
  <dcterms:created xsi:type="dcterms:W3CDTF">2006-08-16T00:00:00Z</dcterms:created>
  <dcterms:modified xsi:type="dcterms:W3CDTF">2026-10-05T15:39:22Z</dcterms:modified>
  <dc:identifier>DAHT9s9U0Wg</dc:identifier>
</cp:coreProperties>
</file>